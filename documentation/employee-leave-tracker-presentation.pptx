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94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7F65F08-CCE5-4AFD-9FAE-F120853C9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CDEF9-3F47-40CC-8EEE-9C192BBD0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D21EE-E14F-424E-AEF3-E19F7905216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D6350B-326C-4AAD-AEDD-F9C6982B55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9119" y="1778631"/>
            <a:ext cx="70456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4"/>
                </a:solidFill>
                <a:effectLst/>
              </a:rPr>
              <a:t>Employee Leave Tracker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07676" y="3424335"/>
            <a:ext cx="607189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600" b="1" dirty="0" smtClean="0">
                <a:ln/>
                <a:solidFill>
                  <a:schemeClr val="accent4"/>
                </a:solidFill>
              </a:rPr>
              <a:t>NAGP Assignment</a:t>
            </a:r>
            <a:br>
              <a:rPr lang="en-US" sz="3600" b="1" dirty="0" smtClean="0">
                <a:ln/>
                <a:solidFill>
                  <a:schemeClr val="accent4"/>
                </a:solidFill>
              </a:rPr>
            </a:br>
            <a:r>
              <a:rPr lang="en-US" sz="3600" b="1" dirty="0" smtClean="0">
                <a:ln/>
                <a:solidFill>
                  <a:schemeClr val="accent4"/>
                </a:solidFill>
              </a:rPr>
              <a:t>By- Jagdeep Singh</a:t>
            </a:r>
            <a:br>
              <a:rPr lang="en-US" sz="3600" b="1" dirty="0" smtClean="0">
                <a:ln/>
                <a:solidFill>
                  <a:schemeClr val="accent4"/>
                </a:solidFill>
              </a:rPr>
            </a:br>
            <a:r>
              <a:rPr lang="en-US" sz="3600" b="1" dirty="0" smtClean="0">
                <a:ln/>
                <a:solidFill>
                  <a:schemeClr val="accent4"/>
                </a:solidFill>
              </a:rPr>
              <a:t>jagdeep.singh@nagarro.com</a:t>
            </a:r>
            <a:endParaRPr lang="en-US" sz="36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767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0F8F52C-F021-4327-95E2-A9953E019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0D06B-EA9B-4B3A-AD78-DA380ACEBB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5E052F8D-8740-4FB1-B1ED-5FDDCE6A5511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3B24A9D-7272-4B6B-91E2-1E7B481B65F5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TEAM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BFFB8-6A80-4D9D-A33C-4D02F8268DB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65722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Employee Leave Tracker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6EA426-69DF-4629-A8EF-211E95534439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6667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DDE7E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DE7E6"/>
                </a:solidFill>
                <a:latin typeface="Aptos"/>
                <a:ea typeface="Aptos"/>
                <a:cs typeface="Aptos"/>
              </a:rPr>
              <a:t>A complete Spring Boot microservices implementation for leave application, manager approvals, leave balances, notifications, tracing, and Dockerized delivery.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7DD2B0-3392-42A4-8022-081DC294D262}"/>
              </a:ext>
            </a:extLst>
          </p:cNvPr>
          <p:cNvSpPr>
            <a:spLocks noGrp="1"/>
          </p:cNvSpPr>
          <p:nvPr/>
        </p:nvSpPr>
        <p:spPr>
          <a:xfrm>
            <a:off x="7429500" y="1066800"/>
            <a:ext cx="17145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667957-5516-40B4-B837-284290DCA6EF}"/>
              </a:ext>
            </a:extLst>
          </p:cNvPr>
          <p:cNvSpPr>
            <a:spLocks noGrp="1"/>
          </p:cNvSpPr>
          <p:nvPr/>
        </p:nvSpPr>
        <p:spPr>
          <a:xfrm>
            <a:off x="7429500" y="1066800"/>
            <a:ext cx="47625" cy="7810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3FCC5-5F0E-45B4-81D1-CA470682828D}"/>
              </a:ext>
            </a:extLst>
          </p:cNvPr>
          <p:cNvSpPr>
            <a:spLocks noGrp="1"/>
          </p:cNvSpPr>
          <p:nvPr/>
        </p:nvSpPr>
        <p:spPr>
          <a:xfrm>
            <a:off x="7581900" y="1152525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61B62-223E-4AF1-9AAD-FFA87A1644D6}"/>
              </a:ext>
            </a:extLst>
          </p:cNvPr>
          <p:cNvSpPr>
            <a:spLocks noGrp="1"/>
          </p:cNvSpPr>
          <p:nvPr/>
        </p:nvSpPr>
        <p:spPr>
          <a:xfrm>
            <a:off x="7581900" y="1495425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runtime components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1AA680-9826-4C0B-B610-482FE8C895C9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180975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B4FAAF-B554-490F-98F8-3B77CAD26F0B}"/>
              </a:ext>
            </a:extLst>
          </p:cNvPr>
          <p:cNvSpPr>
            <a:spLocks noGrp="1"/>
          </p:cNvSpPr>
          <p:nvPr/>
        </p:nvSpPr>
        <p:spPr>
          <a:xfrm>
            <a:off x="9429750" y="1066800"/>
            <a:ext cx="47625" cy="7810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8B8AFA-F378-4CBE-8EAA-B20396EBD995}"/>
              </a:ext>
            </a:extLst>
          </p:cNvPr>
          <p:cNvSpPr>
            <a:spLocks noGrp="1"/>
          </p:cNvSpPr>
          <p:nvPr/>
        </p:nvSpPr>
        <p:spPr>
          <a:xfrm>
            <a:off x="9582150" y="1152525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BFAAC-7F60-4469-934C-FA32B557CF73}"/>
              </a:ext>
            </a:extLst>
          </p:cNvPr>
          <p:cNvSpPr>
            <a:spLocks noGrp="1"/>
          </p:cNvSpPr>
          <p:nvPr/>
        </p:nvSpPr>
        <p:spPr>
          <a:xfrm>
            <a:off x="9582150" y="1495425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gateway-secured APIs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1C7549-63CD-44C6-BA36-DC88B801059A}"/>
              </a:ext>
            </a:extLst>
          </p:cNvPr>
          <p:cNvSpPr>
            <a:spLocks noGrp="1"/>
          </p:cNvSpPr>
          <p:nvPr/>
        </p:nvSpPr>
        <p:spPr>
          <a:xfrm>
            <a:off x="7429500" y="2095500"/>
            <a:ext cx="38100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D52889-B04D-4874-9059-08D16E986D01}"/>
              </a:ext>
            </a:extLst>
          </p:cNvPr>
          <p:cNvSpPr>
            <a:spLocks noGrp="1"/>
          </p:cNvSpPr>
          <p:nvPr/>
        </p:nvSpPr>
        <p:spPr>
          <a:xfrm>
            <a:off x="7429500" y="2095500"/>
            <a:ext cx="47625" cy="7810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EDA1FF-CFCC-40AB-A81F-D0DE8DDD5B08}"/>
              </a:ext>
            </a:extLst>
          </p:cNvPr>
          <p:cNvSpPr>
            <a:spLocks noGrp="1"/>
          </p:cNvSpPr>
          <p:nvPr/>
        </p:nvSpPr>
        <p:spPr>
          <a:xfrm>
            <a:off x="7581900" y="218122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AA1946-9C91-4696-80A4-B2557263F0F2}"/>
              </a:ext>
            </a:extLst>
          </p:cNvPr>
          <p:cNvSpPr>
            <a:spLocks noGrp="1"/>
          </p:cNvSpPr>
          <p:nvPr/>
        </p:nvSpPr>
        <p:spPr>
          <a:xfrm>
            <a:off x="7581900" y="2524125"/>
            <a:ext cx="3562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async notifications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180494-FB1C-4911-93F7-9CBA8876A357}"/>
              </a:ext>
            </a:extLst>
          </p:cNvPr>
          <p:cNvSpPr>
            <a:spLocks noGrp="1"/>
          </p:cNvSpPr>
          <p:nvPr/>
        </p:nvSpPr>
        <p:spPr>
          <a:xfrm>
            <a:off x="7429500" y="3124200"/>
            <a:ext cx="38100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CB2D4-7524-41C2-8015-111441F8F3E7}"/>
              </a:ext>
            </a:extLst>
          </p:cNvPr>
          <p:cNvSpPr>
            <a:spLocks noGrp="1"/>
          </p:cNvSpPr>
          <p:nvPr/>
        </p:nvSpPr>
        <p:spPr>
          <a:xfrm>
            <a:off x="7429500" y="3124200"/>
            <a:ext cx="47625" cy="78105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7CFA71-282A-4E42-954B-42E15AEE0F08}"/>
              </a:ext>
            </a:extLst>
          </p:cNvPr>
          <p:cNvSpPr>
            <a:spLocks noGrp="1"/>
          </p:cNvSpPr>
          <p:nvPr/>
        </p:nvSpPr>
        <p:spPr>
          <a:xfrm>
            <a:off x="7581900" y="320992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Zipkin + ELK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613B9D-63AD-4E37-8F6B-267BDD549DEE}"/>
              </a:ext>
            </a:extLst>
          </p:cNvPr>
          <p:cNvSpPr>
            <a:spLocks noGrp="1"/>
          </p:cNvSpPr>
          <p:nvPr/>
        </p:nvSpPr>
        <p:spPr>
          <a:xfrm>
            <a:off x="7581900" y="3552825"/>
            <a:ext cx="3562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observability layer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715104-2C41-4042-ACEC-225048044D15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2019300" cy="3238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9A46A1-D57F-4748-B518-32A79D114F20}"/>
              </a:ext>
            </a:extLst>
          </p:cNvPr>
          <p:cNvSpPr>
            <a:spLocks noGrp="1"/>
          </p:cNvSpPr>
          <p:nvPr/>
        </p:nvSpPr>
        <p:spPr>
          <a:xfrm>
            <a:off x="628650" y="3648075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47625" rIns="57150" bIns="47625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Submission-ready story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53649C-5146-428B-B983-771C8B7BE489}"/>
              </a:ext>
            </a:extLst>
          </p:cNvPr>
          <p:cNvSpPr>
            <a:spLocks noGrp="1"/>
          </p:cNvSpPr>
          <p:nvPr/>
        </p:nvSpPr>
        <p:spPr>
          <a:xfrm>
            <a:off x="2819400" y="3638550"/>
            <a:ext cx="2095500" cy="3238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2B427B-561B-4D55-B48F-ECD977B914E9}"/>
              </a:ext>
            </a:extLst>
          </p:cNvPr>
          <p:cNvSpPr>
            <a:spLocks noGrp="1"/>
          </p:cNvSpPr>
          <p:nvPr/>
        </p:nvSpPr>
        <p:spPr>
          <a:xfrm>
            <a:off x="2819400" y="3648075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47625" rIns="57150" bIns="47625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Compose startup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1CDD1C-7B3B-44BF-A130-56D82DDEEC62}"/>
              </a:ext>
            </a:extLst>
          </p:cNvPr>
          <p:cNvSpPr>
            <a:spLocks noGrp="1"/>
          </p:cNvSpPr>
          <p:nvPr/>
        </p:nvSpPr>
        <p:spPr>
          <a:xfrm>
            <a:off x="5086350" y="3638550"/>
            <a:ext cx="2000250" cy="3238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951655-AAD1-4C62-85FB-3769D4D0CECA}"/>
              </a:ext>
            </a:extLst>
          </p:cNvPr>
          <p:cNvSpPr>
            <a:spLocks noGrp="1"/>
          </p:cNvSpPr>
          <p:nvPr/>
        </p:nvSpPr>
        <p:spPr>
          <a:xfrm>
            <a:off x="5086350" y="3648075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47625" rIns="57150" bIns="47625" anchor="t"/>
          <a:lstStyle/>
          <a:p>
            <a:pPr algn="ctr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API docs + Postman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116F46-EA54-49E5-A4E4-4638B1E743A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3241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0B4A58-7462-49BB-9AD5-2192A4CA720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BAD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DB8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D90219-E0F3-4AB7-982E-A8A4A0BF7663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02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7F65F08-CCE5-4AFD-9FAE-F120853C9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CDEF9-3F47-40CC-8EEE-9C192BBD0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2FE0C3B-1E70-4ACF-A979-B0083AF7A3C3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8FFB9B6-1241-4D86-AA2D-03DD4FFF63E5}"/>
              </a:ext>
            </a:extLst>
          </p:cNvPr>
          <p:cNvSpPr>
            <a:spLocks noGrp="1"/>
          </p:cNvSpPr>
          <p:nvPr/>
        </p:nvSpPr>
        <p:spPr>
          <a:xfrm>
            <a:off x="819150" y="4572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E85D4F"/>
                </a:solidFill>
                <a:latin typeface="Aptos"/>
                <a:ea typeface="Aptos"/>
                <a:cs typeface="Aptos"/>
              </a:rPr>
              <a:t>ASSIGNMENT 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BE3C9-E282-4CE0-BDA3-1A0573D67BD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3225" b="1" dirty="0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I</a:t>
            </a:r>
            <a:r>
              <a:rPr sz="3225" b="1" dirty="0" err="1" smtClean="0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mplemented</a:t>
            </a:r>
            <a:r>
              <a:rPr sz="3225" b="1" dirty="0" smtClean="0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225" b="1" dirty="0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required backend workflows plus the cross-cutting concerns.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929D2-06D9-4A03-B7E8-FEFE1427E85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4686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08453-64FE-406B-B5C4-CFDF9AE6AC2B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468630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1092E-D05E-41F9-95CF-A3017BBBB003}"/>
              </a:ext>
            </a:extLst>
          </p:cNvPr>
          <p:cNvSpPr>
            <a:spLocks noGrp="1"/>
          </p:cNvSpPr>
          <p:nvPr/>
        </p:nvSpPr>
        <p:spPr>
          <a:xfrm>
            <a:off x="895350" y="243840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JWT authentication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071404-EE69-47D6-9A20-207D1F679021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Login returns a signed token carrying user id, role, email, issue time, and expiry.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49A71D-C80C-4DAD-AFED-F5FD38F6BBFB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4686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2BCF4-9143-43F1-AC5F-34CC7522DEC0}"/>
              </a:ext>
            </a:extLst>
          </p:cNvPr>
          <p:cNvSpPr>
            <a:spLocks noGrp="1"/>
          </p:cNvSpPr>
          <p:nvPr/>
        </p:nvSpPr>
        <p:spPr>
          <a:xfrm>
            <a:off x="5962650" y="2266950"/>
            <a:ext cx="4686300" cy="47625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17B95-829E-4D76-84D5-414804C72B8D}"/>
              </a:ext>
            </a:extLst>
          </p:cNvPr>
          <p:cNvSpPr>
            <a:spLocks noGrp="1"/>
          </p:cNvSpPr>
          <p:nvPr/>
        </p:nvSpPr>
        <p:spPr>
          <a:xfrm>
            <a:off x="6115050" y="243840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Role authorization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767B7-2EF8-4AEE-A65F-8E32205FCD9E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Employees access only self data; managers access assigned team members and requests.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785797-4D0F-4E84-87D1-E5C833FFE93F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686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03D7CF-185A-4D28-A748-8B244BE69F1C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686300" cy="476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BCCF2-9F90-4896-8D41-25693171DF8F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Leave lifecycle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6131F-DEF0-4759-BF0D-4D459DA76E83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Apply, validate, view history, approve, reject, and deduct balances on approval.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0916F-0EF0-459E-8D0E-019EBD3A64F1}"/>
              </a:ext>
            </a:extLst>
          </p:cNvPr>
          <p:cNvSpPr>
            <a:spLocks noGrp="1"/>
          </p:cNvSpPr>
          <p:nvPr/>
        </p:nvSpPr>
        <p:spPr>
          <a:xfrm>
            <a:off x="5962650" y="3771900"/>
            <a:ext cx="46863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79D4BC-8676-4584-92C7-C5700044F88C}"/>
              </a:ext>
            </a:extLst>
          </p:cNvPr>
          <p:cNvSpPr>
            <a:spLocks noGrp="1"/>
          </p:cNvSpPr>
          <p:nvPr/>
        </p:nvSpPr>
        <p:spPr>
          <a:xfrm>
            <a:off x="5962650" y="3771900"/>
            <a:ext cx="4686300" cy="47625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F3B926-7886-48BE-8960-E77992152419}"/>
              </a:ext>
            </a:extLst>
          </p:cNvPr>
          <p:cNvSpPr>
            <a:spLocks noGrp="1"/>
          </p:cNvSpPr>
          <p:nvPr/>
        </p:nvSpPr>
        <p:spPr>
          <a:xfrm>
            <a:off x="6115050" y="394335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Microservices runtime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56B5F0-812C-46B3-A71E-14A4FC764BFC}"/>
              </a:ext>
            </a:extLst>
          </p:cNvPr>
          <p:cNvSpPr>
            <a:spLocks noGrp="1"/>
          </p:cNvSpPr>
          <p:nvPr/>
        </p:nvSpPr>
        <p:spPr>
          <a:xfrm>
            <a:off x="6115050" y="428625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Gateway, Eureka discovery, Docker Compose, RabbitMQ, tracing, and health endpoints.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88CF65-296C-4DC8-BF82-5F7109828BF1}"/>
              </a:ext>
            </a:extLst>
          </p:cNvPr>
          <p:cNvSpPr>
            <a:spLocks noGrp="1"/>
          </p:cNvSpPr>
          <p:nvPr/>
        </p:nvSpPr>
        <p:spPr>
          <a:xfrm>
            <a:off x="914400" y="5467350"/>
            <a:ext cx="9715500" cy="514350"/>
          </a:xfrm>
          <a:prstGeom prst="rect">
            <a:avLst/>
          </a:prstGeom>
          <a:solidFill>
            <a:srgbClr val="E8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Assignment expectation: RESTful APIs, proper status codes, error messages, coding standards, Dockerfiles, Compose, design docs, Postman collection, and mandatory demo video.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1D21EE-E14F-424E-AEF3-E19F7905216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D6350B-326C-4AAD-AEDD-F9C6982B551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F058C5-9FB0-48E0-B5BA-8FE781E74BC5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47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9ABD1C9-C21F-4B5A-9FA4-0346C8A269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526069-B2D8-4F97-9A35-1B22CD4FB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E61D54E-33B9-4023-854D-A5BB519C1C0D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E9B3414C-3FDB-4C23-A297-5F6BA19BC7E1}"/>
              </a:ext>
            </a:extLst>
          </p:cNvPr>
          <p:cNvSpPr>
            <a:spLocks noGrp="1"/>
          </p:cNvSpPr>
          <p:nvPr/>
        </p:nvSpPr>
        <p:spPr>
          <a:xfrm>
            <a:off x="771525" y="4667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E85D4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39745-1598-4FF3-B89D-D0284322F88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gateway is the public entry point; services stay focused and discoverable.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73415-5906-4B47-AA65-18C4C20B8C0A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524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3FEBC-2096-4F2D-9A39-2227718633B0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47625" cy="7048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7CEAD-FA26-4CCE-9DFB-B496D7649953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1219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lang="en-IN" sz="1350" b="1" dirty="0" smtClean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API Client</a:t>
            </a:r>
            <a:endParaRPr sz="1350" b="1" dirty="0">
              <a:solidFill>
                <a:srgbClr val="1018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FD9AC-C8F7-4DE3-B4D9-B1F433D004CA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1809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AAC1F-E754-4C26-9DA8-9404DBC86075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47625" cy="7048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09399-6D74-4975-8B0B-C5031F405097}"/>
              </a:ext>
            </a:extLst>
          </p:cNvPr>
          <p:cNvSpPr>
            <a:spLocks noGrp="1"/>
          </p:cNvSpPr>
          <p:nvPr/>
        </p:nvSpPr>
        <p:spPr>
          <a:xfrm>
            <a:off x="3028950" y="28384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5AFC9A-67AA-49C8-B7CA-45C08333A5C8}"/>
              </a:ext>
            </a:extLst>
          </p:cNvPr>
          <p:cNvSpPr>
            <a:spLocks noGrp="1"/>
          </p:cNvSpPr>
          <p:nvPr/>
        </p:nvSpPr>
        <p:spPr>
          <a:xfrm>
            <a:off x="3028950" y="31242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B772DF-8A57-40A4-B937-40016C3E2208}"/>
              </a:ext>
            </a:extLst>
          </p:cNvPr>
          <p:cNvSpPr>
            <a:spLocks noGrp="1"/>
          </p:cNvSpPr>
          <p:nvPr/>
        </p:nvSpPr>
        <p:spPr>
          <a:xfrm>
            <a:off x="5429250" y="1943100"/>
            <a:ext cx="1371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8798B-13C4-4A1B-9F66-75498BE52CCA}"/>
              </a:ext>
            </a:extLst>
          </p:cNvPr>
          <p:cNvSpPr>
            <a:spLocks noGrp="1"/>
          </p:cNvSpPr>
          <p:nvPr/>
        </p:nvSpPr>
        <p:spPr>
          <a:xfrm>
            <a:off x="5429250" y="1943100"/>
            <a:ext cx="47625" cy="704850"/>
          </a:xfrm>
          <a:prstGeom prst="rect">
            <a:avLst/>
          </a:prstGeom>
          <a:solidFill>
            <a:srgbClr val="8F6A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F23B7D-9335-4120-AACA-235062B6ACD3}"/>
              </a:ext>
            </a:extLst>
          </p:cNvPr>
          <p:cNvSpPr>
            <a:spLocks noGrp="1"/>
          </p:cNvSpPr>
          <p:nvPr/>
        </p:nvSpPr>
        <p:spPr>
          <a:xfrm>
            <a:off x="5581650" y="205740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382822-406E-4C6E-9713-4E72CC5D1406}"/>
              </a:ext>
            </a:extLst>
          </p:cNvPr>
          <p:cNvSpPr>
            <a:spLocks noGrp="1"/>
          </p:cNvSpPr>
          <p:nvPr/>
        </p:nvSpPr>
        <p:spPr>
          <a:xfrm>
            <a:off x="5581650" y="23431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255E9D-F497-478E-BF3B-73ECBA77C0D8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1371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4DF47-99B6-4093-9840-39EED586168D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47625" cy="7048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C70E5E-24A0-4743-86A7-D40AC9C4A64B}"/>
              </a:ext>
            </a:extLst>
          </p:cNvPr>
          <p:cNvSpPr>
            <a:spLocks noGrp="1"/>
          </p:cNvSpPr>
          <p:nvPr/>
        </p:nvSpPr>
        <p:spPr>
          <a:xfrm>
            <a:off x="5581650" y="28384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Employee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843754-A908-4D29-B99E-2F047E52366B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01A903-9F21-4CAD-B81A-221327600F62}"/>
              </a:ext>
            </a:extLst>
          </p:cNvPr>
          <p:cNvSpPr>
            <a:spLocks noGrp="1"/>
          </p:cNvSpPr>
          <p:nvPr/>
        </p:nvSpPr>
        <p:spPr>
          <a:xfrm>
            <a:off x="5429250" y="3505200"/>
            <a:ext cx="1371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BBD244-2607-4103-8B83-792937F70236}"/>
              </a:ext>
            </a:extLst>
          </p:cNvPr>
          <p:cNvSpPr>
            <a:spLocks noGrp="1"/>
          </p:cNvSpPr>
          <p:nvPr/>
        </p:nvSpPr>
        <p:spPr>
          <a:xfrm>
            <a:off x="5429250" y="3505200"/>
            <a:ext cx="47625" cy="70485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E1F68F-F771-4207-B80E-3C94BC856BAD}"/>
              </a:ext>
            </a:extLst>
          </p:cNvPr>
          <p:cNvSpPr>
            <a:spLocks noGrp="1"/>
          </p:cNvSpPr>
          <p:nvPr/>
        </p:nvSpPr>
        <p:spPr>
          <a:xfrm>
            <a:off x="5581650" y="361950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Leave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B14E8D-70EA-44E7-B186-053D0B435BEF}"/>
              </a:ext>
            </a:extLst>
          </p:cNvPr>
          <p:cNvSpPr>
            <a:spLocks noGrp="1"/>
          </p:cNvSpPr>
          <p:nvPr/>
        </p:nvSpPr>
        <p:spPr>
          <a:xfrm>
            <a:off x="5581650" y="39052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EDFFA3-BA77-4E18-AF33-D753B78D87BC}"/>
              </a:ext>
            </a:extLst>
          </p:cNvPr>
          <p:cNvSpPr>
            <a:spLocks noGrp="1"/>
          </p:cNvSpPr>
          <p:nvPr/>
        </p:nvSpPr>
        <p:spPr>
          <a:xfrm>
            <a:off x="5429250" y="4286250"/>
            <a:ext cx="13716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FF0B8E-DCB9-48D8-A8F2-6CA8CDED2A96}"/>
              </a:ext>
            </a:extLst>
          </p:cNvPr>
          <p:cNvSpPr>
            <a:spLocks noGrp="1"/>
          </p:cNvSpPr>
          <p:nvPr/>
        </p:nvSpPr>
        <p:spPr>
          <a:xfrm>
            <a:off x="5429250" y="4286250"/>
            <a:ext cx="47625" cy="704850"/>
          </a:xfrm>
          <a:prstGeom prst="rect">
            <a:avLst/>
          </a:prstGeom>
          <a:solidFill>
            <a:srgbClr val="65B9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A5C157-8A6A-4962-A168-F716EA3257B5}"/>
              </a:ext>
            </a:extLst>
          </p:cNvPr>
          <p:cNvSpPr>
            <a:spLocks noGrp="1"/>
          </p:cNvSpPr>
          <p:nvPr/>
        </p:nvSpPr>
        <p:spPr>
          <a:xfrm>
            <a:off x="5581650" y="44005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Notification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652025-860D-4D2C-A6E6-C695EA3683DC}"/>
              </a:ext>
            </a:extLst>
          </p:cNvPr>
          <p:cNvSpPr>
            <a:spLocks noGrp="1"/>
          </p:cNvSpPr>
          <p:nvPr/>
        </p:nvSpPr>
        <p:spPr>
          <a:xfrm>
            <a:off x="5695950" y="46672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BD9B9B-64C6-4B91-8D1A-8B2065FFDD03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1809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C435EF-529E-46C2-BF84-32903AD3BA23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47625" cy="7048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58C98E-EF5E-4E2D-9285-C199C418147A}"/>
              </a:ext>
            </a:extLst>
          </p:cNvPr>
          <p:cNvSpPr>
            <a:spLocks noGrp="1"/>
          </p:cNvSpPr>
          <p:nvPr/>
        </p:nvSpPr>
        <p:spPr>
          <a:xfrm>
            <a:off x="7962900" y="205740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Eureka Registry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C6E574-F4DF-4CB8-AD22-641CCBB7AAB3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709F3C-4BFA-4AFF-B577-31AC8210084F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1809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737517-96A3-45C8-9CDB-F945DB4CC0CA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47625" cy="7048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62F441-5774-4468-AB12-7FA69CA66D92}"/>
              </a:ext>
            </a:extLst>
          </p:cNvPr>
          <p:cNvSpPr>
            <a:spLocks noGrp="1"/>
          </p:cNvSpPr>
          <p:nvPr/>
        </p:nvSpPr>
        <p:spPr>
          <a:xfrm>
            <a:off x="7962900" y="32194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B2C1BE-CF3A-4A51-A47C-BDA6898490B8}"/>
              </a:ext>
            </a:extLst>
          </p:cNvPr>
          <p:cNvSpPr>
            <a:spLocks noGrp="1"/>
          </p:cNvSpPr>
          <p:nvPr/>
        </p:nvSpPr>
        <p:spPr>
          <a:xfrm>
            <a:off x="7962900" y="35052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:5432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966987-47C5-4AC2-9382-F3A6CB0BB399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18097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73B014-523B-43B9-92EB-AFDAEE27B25C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47625" cy="7048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C2EBA9-59E2-4636-BC93-EF2F53A13B9D}"/>
              </a:ext>
            </a:extLst>
          </p:cNvPr>
          <p:cNvSpPr>
            <a:spLocks noGrp="1"/>
          </p:cNvSpPr>
          <p:nvPr/>
        </p:nvSpPr>
        <p:spPr>
          <a:xfrm>
            <a:off x="7962900" y="42862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68D28D-CE4D-4117-BFEA-AABD482AF35A}"/>
              </a:ext>
            </a:extLst>
          </p:cNvPr>
          <p:cNvSpPr>
            <a:spLocks noGrp="1"/>
          </p:cNvSpPr>
          <p:nvPr/>
        </p:nvSpPr>
        <p:spPr>
          <a:xfrm>
            <a:off x="7962900" y="45720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:5672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013A6F-E995-4856-AB8D-89FD5998449F}"/>
              </a:ext>
            </a:extLst>
          </p:cNvPr>
          <p:cNvSpPr>
            <a:spLocks noGrp="1"/>
          </p:cNvSpPr>
          <p:nvPr/>
        </p:nvSpPr>
        <p:spPr>
          <a:xfrm>
            <a:off x="9982200" y="1943100"/>
            <a:ext cx="1238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904C31-F71C-47C1-ACE7-E60F3D7D4030}"/>
              </a:ext>
            </a:extLst>
          </p:cNvPr>
          <p:cNvSpPr>
            <a:spLocks noGrp="1"/>
          </p:cNvSpPr>
          <p:nvPr/>
        </p:nvSpPr>
        <p:spPr>
          <a:xfrm>
            <a:off x="9982200" y="1943100"/>
            <a:ext cx="47625" cy="70485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ED1240-97ED-47D0-8E38-F0B380DE76DB}"/>
              </a:ext>
            </a:extLst>
          </p:cNvPr>
          <p:cNvSpPr>
            <a:spLocks noGrp="1"/>
          </p:cNvSpPr>
          <p:nvPr/>
        </p:nvSpPr>
        <p:spPr>
          <a:xfrm>
            <a:off x="10134600" y="205740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Zipkin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F35BA9-3FAE-4F23-BA77-364884A052FF}"/>
              </a:ext>
            </a:extLst>
          </p:cNvPr>
          <p:cNvSpPr>
            <a:spLocks noGrp="1"/>
          </p:cNvSpPr>
          <p:nvPr/>
        </p:nvSpPr>
        <p:spPr>
          <a:xfrm>
            <a:off x="10134600" y="234315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:9010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235022-96A5-4289-9975-E0EF1AFBA017}"/>
              </a:ext>
            </a:extLst>
          </p:cNvPr>
          <p:cNvSpPr>
            <a:spLocks noGrp="1"/>
          </p:cNvSpPr>
          <p:nvPr/>
        </p:nvSpPr>
        <p:spPr>
          <a:xfrm>
            <a:off x="9982200" y="3105150"/>
            <a:ext cx="1238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C15440-6C74-4543-9906-0658F543CC6F}"/>
              </a:ext>
            </a:extLst>
          </p:cNvPr>
          <p:cNvSpPr>
            <a:spLocks noGrp="1"/>
          </p:cNvSpPr>
          <p:nvPr/>
        </p:nvSpPr>
        <p:spPr>
          <a:xfrm>
            <a:off x="9982200" y="3105150"/>
            <a:ext cx="47625" cy="704850"/>
          </a:xfrm>
          <a:prstGeom prst="rect">
            <a:avLst/>
          </a:prstGeom>
          <a:solidFill>
            <a:srgbClr val="8F6A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10F2FF9-12E5-4806-B942-F8A732680163}"/>
              </a:ext>
            </a:extLst>
          </p:cNvPr>
          <p:cNvSpPr>
            <a:spLocks noGrp="1"/>
          </p:cNvSpPr>
          <p:nvPr/>
        </p:nvSpPr>
        <p:spPr>
          <a:xfrm>
            <a:off x="10134600" y="321945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Kibana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2AE13D-A580-44C8-B1E8-069C7293F75E}"/>
              </a:ext>
            </a:extLst>
          </p:cNvPr>
          <p:cNvSpPr>
            <a:spLocks noGrp="1"/>
          </p:cNvSpPr>
          <p:nvPr/>
        </p:nvSpPr>
        <p:spPr>
          <a:xfrm>
            <a:off x="10134600" y="350520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:9012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98A4E91-882A-4540-8B25-9B12641AD31C}"/>
              </a:ext>
            </a:extLst>
          </p:cNvPr>
          <p:cNvSpPr>
            <a:spLocks noGrp="1"/>
          </p:cNvSpPr>
          <p:nvPr/>
        </p:nvSpPr>
        <p:spPr>
          <a:xfrm>
            <a:off x="2247900" y="3076575"/>
            <a:ext cx="628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72E5FD-25D4-4879-914A-E9BE74E42A6F}"/>
              </a:ext>
            </a:extLst>
          </p:cNvPr>
          <p:cNvSpPr>
            <a:spLocks noGrp="1"/>
          </p:cNvSpPr>
          <p:nvPr/>
        </p:nvSpPr>
        <p:spPr>
          <a:xfrm>
            <a:off x="4686300" y="3076575"/>
            <a:ext cx="7429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77A161-302E-4C49-BA7B-B243102CA37A}"/>
              </a:ext>
            </a:extLst>
          </p:cNvPr>
          <p:cNvSpPr>
            <a:spLocks noGrp="1"/>
          </p:cNvSpPr>
          <p:nvPr/>
        </p:nvSpPr>
        <p:spPr>
          <a:xfrm>
            <a:off x="6800850" y="4757737"/>
            <a:ext cx="1009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1E6085-41B1-414D-B9C1-EB3396BF2C27}"/>
              </a:ext>
            </a:extLst>
          </p:cNvPr>
          <p:cNvSpPr>
            <a:spLocks noGrp="1"/>
          </p:cNvSpPr>
          <p:nvPr/>
        </p:nvSpPr>
        <p:spPr>
          <a:xfrm>
            <a:off x="6800850" y="3076575"/>
            <a:ext cx="1009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3D685F9-106F-42B6-91FB-49A6F4B9BAB3}"/>
              </a:ext>
            </a:extLst>
          </p:cNvPr>
          <p:cNvSpPr>
            <a:spLocks noGrp="1"/>
          </p:cNvSpPr>
          <p:nvPr/>
        </p:nvSpPr>
        <p:spPr>
          <a:xfrm>
            <a:off x="6800850" y="3857625"/>
            <a:ext cx="1009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ED329A-7129-4014-BEFD-CF4BEAFF0316}"/>
              </a:ext>
            </a:extLst>
          </p:cNvPr>
          <p:cNvSpPr>
            <a:spLocks noGrp="1"/>
          </p:cNvSpPr>
          <p:nvPr/>
        </p:nvSpPr>
        <p:spPr>
          <a:xfrm>
            <a:off x="2857500" y="5476875"/>
            <a:ext cx="4438650" cy="3238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0CB4EC-525C-4B65-8D20-F5DF3EA80AE3}"/>
              </a:ext>
            </a:extLst>
          </p:cNvPr>
          <p:cNvSpPr>
            <a:spLocks noGrp="1"/>
          </p:cNvSpPr>
          <p:nvPr/>
        </p:nvSpPr>
        <p:spPr>
          <a:xfrm>
            <a:off x="2857500" y="5486400"/>
            <a:ext cx="4438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47625" rIns="57150" bIns="47625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 headers forwarded: X-User-Id + X-User-Role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50965C-817F-494F-800F-ECF7FEA574B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BDC10B-9833-4723-A8AB-F2DD2480E57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A056A4-E91F-4CC9-A115-061113916DAA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B3FEBC-2096-4F2D-9A39-2227718633B0}"/>
              </a:ext>
            </a:extLst>
          </p:cNvPr>
          <p:cNvSpPr>
            <a:spLocks noGrp="1"/>
          </p:cNvSpPr>
          <p:nvPr/>
        </p:nvSpPr>
        <p:spPr>
          <a:xfrm>
            <a:off x="713986" y="3748573"/>
            <a:ext cx="47625" cy="7048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973415-5906-4B47-AA65-18C4C20B8C0A}"/>
              </a:ext>
            </a:extLst>
          </p:cNvPr>
          <p:cNvSpPr>
            <a:spLocks noGrp="1"/>
          </p:cNvSpPr>
          <p:nvPr/>
        </p:nvSpPr>
        <p:spPr>
          <a:xfrm>
            <a:off x="763458" y="3730107"/>
            <a:ext cx="1524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97CEAD-FA26-4CCE-9DFB-B496D7649953}"/>
              </a:ext>
            </a:extLst>
          </p:cNvPr>
          <p:cNvSpPr>
            <a:spLocks noGrp="1"/>
          </p:cNvSpPr>
          <p:nvPr/>
        </p:nvSpPr>
        <p:spPr>
          <a:xfrm>
            <a:off x="877855" y="3895725"/>
            <a:ext cx="1219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1EC1D6E-927F-4F23-B6E7-1C4E41B412A3}"/>
              </a:ext>
            </a:extLst>
          </p:cNvPr>
          <p:cNvSpPr>
            <a:spLocks noGrp="1"/>
          </p:cNvSpPr>
          <p:nvPr/>
        </p:nvSpPr>
        <p:spPr>
          <a:xfrm>
            <a:off x="859096" y="4143375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97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:9006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98A4E91-882A-4540-8B25-9B12641AD31C}"/>
              </a:ext>
            </a:extLst>
          </p:cNvPr>
          <p:cNvSpPr>
            <a:spLocks noGrp="1"/>
          </p:cNvSpPr>
          <p:nvPr/>
        </p:nvSpPr>
        <p:spPr>
          <a:xfrm rot="18627621" flipV="1">
            <a:off x="2123142" y="3838471"/>
            <a:ext cx="1027876" cy="45719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D77A161-302E-4C49-BA7B-B243102CA37A}"/>
              </a:ext>
            </a:extLst>
          </p:cNvPr>
          <p:cNvSpPr>
            <a:spLocks noGrp="1"/>
          </p:cNvSpPr>
          <p:nvPr/>
        </p:nvSpPr>
        <p:spPr>
          <a:xfrm rot="681712">
            <a:off x="6800849" y="4182703"/>
            <a:ext cx="10096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715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7C3B5E7-FA23-486D-9CEA-AFC23B9FEE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5CB5B8-AD55-4279-A8E9-77F30FE386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42672101-2E4C-441D-B742-44DFAC99D7CA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B2F6F708-623C-4CAE-BD62-221AC0EF8266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SERVICE BOUNDARIES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6303E-A242-42F7-9C1E-26EEA6868A9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382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Each service owns a narrow responsibility, while Compose wires the platform.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D97DB-38DD-494F-A77D-D79F727AD920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333625" cy="13144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3A466-73C2-4233-B963-6D1FF0DA8057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333625" cy="47625"/>
          </a:xfrm>
          <a:prstGeom prst="rect">
            <a:avLst/>
          </a:prstGeom>
          <a:solidFill>
            <a:srgbClr val="8F6A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AA1BD-017C-453B-8EF0-F67ABC82A12C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auth-service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2DE7F0-E204-4D4D-BAE3-1A82F671E90E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20288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Pre-defined users, password check, JWT issue and expiry.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17C3D-A8EA-4436-809B-5D826C2D9862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333625" cy="13144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76BC2-0865-46FA-A319-48129699C757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333625" cy="47625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5347F-E66A-4D5F-9D97-D0081D2BAB9F}"/>
              </a:ext>
            </a:extLst>
          </p:cNvPr>
          <p:cNvSpPr>
            <a:spLocks noGrp="1"/>
          </p:cNvSpPr>
          <p:nvPr/>
        </p:nvSpPr>
        <p:spPr>
          <a:xfrm>
            <a:off x="3505200" y="23622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employee-service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3604D8-8D8E-4BB0-8BD6-FF7272CB86DD}"/>
              </a:ext>
            </a:extLst>
          </p:cNvPr>
          <p:cNvSpPr>
            <a:spLocks noGrp="1"/>
          </p:cNvSpPr>
          <p:nvPr/>
        </p:nvSpPr>
        <p:spPr>
          <a:xfrm>
            <a:off x="3505200" y="2705100"/>
            <a:ext cx="20288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Profiles, manager mapping, team lookup, and leave balance tables.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D15C72-C13D-4F60-87EE-BE7FF15779B1}"/>
              </a:ext>
            </a:extLst>
          </p:cNvPr>
          <p:cNvSpPr>
            <a:spLocks noGrp="1"/>
          </p:cNvSpPr>
          <p:nvPr/>
        </p:nvSpPr>
        <p:spPr>
          <a:xfrm>
            <a:off x="5981700" y="2190750"/>
            <a:ext cx="2333625" cy="13144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2D4766-7394-4D1D-91BE-8C6408F882D1}"/>
              </a:ext>
            </a:extLst>
          </p:cNvPr>
          <p:cNvSpPr>
            <a:spLocks noGrp="1"/>
          </p:cNvSpPr>
          <p:nvPr/>
        </p:nvSpPr>
        <p:spPr>
          <a:xfrm>
            <a:off x="5981700" y="2190750"/>
            <a:ext cx="2333625" cy="47625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3E2A0F-ADE2-4C7D-B693-33C1C5EE7EB8}"/>
              </a:ext>
            </a:extLst>
          </p:cNvPr>
          <p:cNvSpPr>
            <a:spLocks noGrp="1"/>
          </p:cNvSpPr>
          <p:nvPr/>
        </p:nvSpPr>
        <p:spPr>
          <a:xfrm>
            <a:off x="6134100" y="23622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leave-service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ECA98C-208A-4BBF-8CFB-567741DFEDB9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20288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Business validation, pending requests, approval/rejection, circuit breaker.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BF89A3-4C00-4340-B797-B68D1AD82DF9}"/>
              </a:ext>
            </a:extLst>
          </p:cNvPr>
          <p:cNvSpPr>
            <a:spLocks noGrp="1"/>
          </p:cNvSpPr>
          <p:nvPr/>
        </p:nvSpPr>
        <p:spPr>
          <a:xfrm>
            <a:off x="8610600" y="2190750"/>
            <a:ext cx="2333625" cy="13144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694049-E5AD-43B0-BC61-BABA14EF6857}"/>
              </a:ext>
            </a:extLst>
          </p:cNvPr>
          <p:cNvSpPr>
            <a:spLocks noGrp="1"/>
          </p:cNvSpPr>
          <p:nvPr/>
        </p:nvSpPr>
        <p:spPr>
          <a:xfrm>
            <a:off x="8610600" y="2190750"/>
            <a:ext cx="2333625" cy="47625"/>
          </a:xfrm>
          <a:prstGeom prst="rect">
            <a:avLst/>
          </a:prstGeom>
          <a:solidFill>
            <a:srgbClr val="65B9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EA7161-0922-48CD-94AC-0974AC3B150E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notification-service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A5CA54-9A6B-4B50-AA69-CB54F73F962A}"/>
              </a:ext>
            </a:extLst>
          </p:cNvPr>
          <p:cNvSpPr>
            <a:spLocks noGrp="1"/>
          </p:cNvSpPr>
          <p:nvPr/>
        </p:nvSpPr>
        <p:spPr>
          <a:xfrm>
            <a:off x="8763000" y="2705100"/>
            <a:ext cx="20288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Consumes RabbitMQ events and stores notification records.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DCA4A5-3687-414A-B913-49BD1D8EC69A}"/>
              </a:ext>
            </a:extLst>
          </p:cNvPr>
          <p:cNvSpPr>
            <a:spLocks noGrp="1"/>
          </p:cNvSpPr>
          <p:nvPr/>
        </p:nvSpPr>
        <p:spPr>
          <a:xfrm>
            <a:off x="2038350" y="4019550"/>
            <a:ext cx="2333625" cy="11239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7684AA-9849-4585-AB54-0746B41666A2}"/>
              </a:ext>
            </a:extLst>
          </p:cNvPr>
          <p:cNvSpPr>
            <a:spLocks noGrp="1"/>
          </p:cNvSpPr>
          <p:nvPr/>
        </p:nvSpPr>
        <p:spPr>
          <a:xfrm>
            <a:off x="2038350" y="4019550"/>
            <a:ext cx="2333625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C315D6-5FAC-4D95-B3DD-AD160422EAFE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api-gateway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042216-170E-4BEE-A160-9E0F410FD77B}"/>
              </a:ext>
            </a:extLst>
          </p:cNvPr>
          <p:cNvSpPr>
            <a:spLocks noGrp="1"/>
          </p:cNvSpPr>
          <p:nvPr/>
        </p:nvSpPr>
        <p:spPr>
          <a:xfrm>
            <a:off x="2190750" y="4533900"/>
            <a:ext cx="20288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Single testing surface for auth, employees, leaves, managers, notifications.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A5192B-923A-4045-BB1A-116C821EAA69}"/>
              </a:ext>
            </a:extLst>
          </p:cNvPr>
          <p:cNvSpPr>
            <a:spLocks noGrp="1"/>
          </p:cNvSpPr>
          <p:nvPr/>
        </p:nvSpPr>
        <p:spPr>
          <a:xfrm>
            <a:off x="4667250" y="4019550"/>
            <a:ext cx="2333625" cy="11239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6B4263-E149-43E8-8BA3-DAB1620D66AF}"/>
              </a:ext>
            </a:extLst>
          </p:cNvPr>
          <p:cNvSpPr>
            <a:spLocks noGrp="1"/>
          </p:cNvSpPr>
          <p:nvPr/>
        </p:nvSpPr>
        <p:spPr>
          <a:xfrm>
            <a:off x="4667250" y="4019550"/>
            <a:ext cx="2333625" cy="476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7F65AF-8A9A-4BE0-99D7-3CC31A62A230}"/>
              </a:ext>
            </a:extLst>
          </p:cNvPr>
          <p:cNvSpPr>
            <a:spLocks noGrp="1"/>
          </p:cNvSpPr>
          <p:nvPr/>
        </p:nvSpPr>
        <p:spPr>
          <a:xfrm>
            <a:off x="4819650" y="41910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discovery-service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66BC33-C976-4E0E-96E1-C7687862C24C}"/>
              </a:ext>
            </a:extLst>
          </p:cNvPr>
          <p:cNvSpPr>
            <a:spLocks noGrp="1"/>
          </p:cNvSpPr>
          <p:nvPr/>
        </p:nvSpPr>
        <p:spPr>
          <a:xfrm>
            <a:off x="4819650" y="4533900"/>
            <a:ext cx="20288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Eureka registration keeps gateway routing service-aware.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CB9007-96AF-4C89-BFF2-49C2362E5E00}"/>
              </a:ext>
            </a:extLst>
          </p:cNvPr>
          <p:cNvSpPr>
            <a:spLocks noGrp="1"/>
          </p:cNvSpPr>
          <p:nvPr/>
        </p:nvSpPr>
        <p:spPr>
          <a:xfrm>
            <a:off x="7296150" y="4019550"/>
            <a:ext cx="2333625" cy="112395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4B1909-7895-473B-907C-D040A8F7F563}"/>
              </a:ext>
            </a:extLst>
          </p:cNvPr>
          <p:cNvSpPr>
            <a:spLocks noGrp="1"/>
          </p:cNvSpPr>
          <p:nvPr/>
        </p:nvSpPr>
        <p:spPr>
          <a:xfrm>
            <a:off x="7296150" y="4019550"/>
            <a:ext cx="2333625" cy="47625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15C254-CA6E-4C20-AD10-E42EE54E64C1}"/>
              </a:ext>
            </a:extLst>
          </p:cNvPr>
          <p:cNvSpPr>
            <a:spLocks noGrp="1"/>
          </p:cNvSpPr>
          <p:nvPr/>
        </p:nvSpPr>
        <p:spPr>
          <a:xfrm>
            <a:off x="7448550" y="4191000"/>
            <a:ext cx="2028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43FA55-4D0E-4FC6-B048-2083ABF16AFB}"/>
              </a:ext>
            </a:extLst>
          </p:cNvPr>
          <p:cNvSpPr>
            <a:spLocks noGrp="1"/>
          </p:cNvSpPr>
          <p:nvPr/>
        </p:nvSpPr>
        <p:spPr>
          <a:xfrm>
            <a:off x="7448550" y="4533900"/>
            <a:ext cx="20288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Simple static browser UI for demoing employee and manager paths.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A35307-E0B5-4B79-8941-62E0C829156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3241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B3912D-1D00-44EA-B9A7-6192C1F71F9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BAD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DB8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63A7D2-CB33-4B22-B5A7-5C9439D7C4BC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00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C0AFC19-8D7B-4F3B-96D1-822D08E3A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5AA66-0DF6-406F-B60E-08D1C5CC4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FA1AEEA-004F-4820-A00F-8EF0D28BF4C2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C57A173-DB17-44C3-B45A-B03C7AE3C2E2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EA3CE6-B410-4A3F-B919-2743268481B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JWT plus role checks enforce ownership at the gateway and service layers.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37A98-74D1-4B80-9B68-25044FDFE073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723900" cy="7239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1D92C-E13C-43AC-920D-4D3E1B7D2784}"/>
              </a:ext>
            </a:extLst>
          </p:cNvPr>
          <p:cNvSpPr>
            <a:spLocks noGrp="1"/>
          </p:cNvSpPr>
          <p:nvPr/>
        </p:nvSpPr>
        <p:spPr>
          <a:xfrm>
            <a:off x="742950" y="28003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3660B-3522-47E1-9894-E8ADD5120C66}"/>
              </a:ext>
            </a:extLst>
          </p:cNvPr>
          <p:cNvSpPr>
            <a:spLocks noGrp="1"/>
          </p:cNvSpPr>
          <p:nvPr/>
        </p:nvSpPr>
        <p:spPr>
          <a:xfrm>
            <a:off x="1619250" y="27051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55A547-0BFA-4970-A64A-CA22B183659A}"/>
              </a:ext>
            </a:extLst>
          </p:cNvPr>
          <p:cNvSpPr>
            <a:spLocks noGrp="1"/>
          </p:cNvSpPr>
          <p:nvPr/>
        </p:nvSpPr>
        <p:spPr>
          <a:xfrm>
            <a:off x="1619250" y="302895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POST /auth/login returns signed JWT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16F25-91F5-4B29-8D1C-27722229A613}"/>
              </a:ext>
            </a:extLst>
          </p:cNvPr>
          <p:cNvSpPr>
            <a:spLocks noGrp="1"/>
          </p:cNvSpPr>
          <p:nvPr/>
        </p:nvSpPr>
        <p:spPr>
          <a:xfrm>
            <a:off x="3124200" y="3067050"/>
            <a:ext cx="3619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DE5AC-5512-4C52-B00A-AF3C228B935D}"/>
              </a:ext>
            </a:extLst>
          </p:cNvPr>
          <p:cNvSpPr>
            <a:spLocks noGrp="1"/>
          </p:cNvSpPr>
          <p:nvPr/>
        </p:nvSpPr>
        <p:spPr>
          <a:xfrm>
            <a:off x="3467100" y="2724150"/>
            <a:ext cx="723900" cy="7239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B16D85-4426-4540-9EA1-75C870C200E1}"/>
              </a:ext>
            </a:extLst>
          </p:cNvPr>
          <p:cNvSpPr>
            <a:spLocks noGrp="1"/>
          </p:cNvSpPr>
          <p:nvPr/>
        </p:nvSpPr>
        <p:spPr>
          <a:xfrm>
            <a:off x="3467100" y="28003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24FBB-EB57-44BB-A278-B69217CC4CFE}"/>
              </a:ext>
            </a:extLst>
          </p:cNvPr>
          <p:cNvSpPr>
            <a:spLocks noGrp="1"/>
          </p:cNvSpPr>
          <p:nvPr/>
        </p:nvSpPr>
        <p:spPr>
          <a:xfrm>
            <a:off x="4343400" y="27051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Gateway validates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0023FD-005C-4111-A705-5E815A695072}"/>
              </a:ext>
            </a:extLst>
          </p:cNvPr>
          <p:cNvSpPr>
            <a:spLocks noGrp="1"/>
          </p:cNvSpPr>
          <p:nvPr/>
        </p:nvSpPr>
        <p:spPr>
          <a:xfrm>
            <a:off x="4343400" y="3148693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All protected routes require Bearer token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8923F-2753-4E93-A2F2-63299FE6AD26}"/>
              </a:ext>
            </a:extLst>
          </p:cNvPr>
          <p:cNvSpPr>
            <a:spLocks noGrp="1"/>
          </p:cNvSpPr>
          <p:nvPr/>
        </p:nvSpPr>
        <p:spPr>
          <a:xfrm>
            <a:off x="5848350" y="3067050"/>
            <a:ext cx="3619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E4240C-E434-4301-9AF7-28C8D8A962C8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723900" cy="72390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BC065C-B797-4563-98B1-4FFD6E464D0A}"/>
              </a:ext>
            </a:extLst>
          </p:cNvPr>
          <p:cNvSpPr>
            <a:spLocks noGrp="1"/>
          </p:cNvSpPr>
          <p:nvPr/>
        </p:nvSpPr>
        <p:spPr>
          <a:xfrm>
            <a:off x="6191250" y="28003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5CAF32-8FC4-4665-AA8E-C061DEF8F6FF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Claims forwarded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D0D3CF-2C15-4C98-AC2E-F441C188CF25}"/>
              </a:ext>
            </a:extLst>
          </p:cNvPr>
          <p:cNvSpPr>
            <a:spLocks noGrp="1"/>
          </p:cNvSpPr>
          <p:nvPr/>
        </p:nvSpPr>
        <p:spPr>
          <a:xfrm>
            <a:off x="7067550" y="314325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Gateway adds X-User-Id and X-User-Role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BEF366-EEEC-47DE-A734-E7E5D199E02E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36195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6BDB7B-061B-405E-8EA8-314A306CABC0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723900" cy="72390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887F3B-5FAB-4F8A-B0DB-1870DC83DCFB}"/>
              </a:ext>
            </a:extLst>
          </p:cNvPr>
          <p:cNvSpPr>
            <a:spLocks noGrp="1"/>
          </p:cNvSpPr>
          <p:nvPr/>
        </p:nvSpPr>
        <p:spPr>
          <a:xfrm>
            <a:off x="8915400" y="2800350"/>
            <a:ext cx="72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36221-CE5A-491A-92AC-EF553CF515BA}"/>
              </a:ext>
            </a:extLst>
          </p:cNvPr>
          <p:cNvSpPr>
            <a:spLocks noGrp="1"/>
          </p:cNvSpPr>
          <p:nvPr/>
        </p:nvSpPr>
        <p:spPr>
          <a:xfrm>
            <a:off x="9791700" y="27051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Services authorize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86BA4-2417-4C05-A8DC-2F0AA748C483}"/>
              </a:ext>
            </a:extLst>
          </p:cNvPr>
          <p:cNvSpPr>
            <a:spLocks noGrp="1"/>
          </p:cNvSpPr>
          <p:nvPr/>
        </p:nvSpPr>
        <p:spPr>
          <a:xfrm>
            <a:off x="9791700" y="3143250"/>
            <a:ext cx="1657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Employees self-only; managers team-only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CF821-9328-40D5-9AE0-5B1C36CC6484}"/>
              </a:ext>
            </a:extLst>
          </p:cNvPr>
          <p:cNvSpPr>
            <a:spLocks noGrp="1"/>
          </p:cNvSpPr>
          <p:nvPr/>
        </p:nvSpPr>
        <p:spPr>
          <a:xfrm>
            <a:off x="1562100" y="4552950"/>
            <a:ext cx="8477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C7E85E-332C-4B6B-BAB1-24477F0A554B}"/>
              </a:ext>
            </a:extLst>
          </p:cNvPr>
          <p:cNvSpPr>
            <a:spLocks noGrp="1"/>
          </p:cNvSpPr>
          <p:nvPr/>
        </p:nvSpPr>
        <p:spPr>
          <a:xfrm>
            <a:off x="1562100" y="4552950"/>
            <a:ext cx="8477250" cy="476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D9AE4C-9CA9-4305-8C07-B13E780CF05B}"/>
              </a:ext>
            </a:extLst>
          </p:cNvPr>
          <p:cNvSpPr>
            <a:spLocks noGrp="1"/>
          </p:cNvSpPr>
          <p:nvPr/>
        </p:nvSpPr>
        <p:spPr>
          <a:xfrm>
            <a:off x="1714500" y="4724400"/>
            <a:ext cx="817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Practical result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1410A1-CC11-4A54-9386-B28C4BABDD88}"/>
              </a:ext>
            </a:extLst>
          </p:cNvPr>
          <p:cNvSpPr>
            <a:spLocks noGrp="1"/>
          </p:cNvSpPr>
          <p:nvPr/>
        </p:nvSpPr>
        <p:spPr>
          <a:xfrm>
            <a:off x="1714500" y="5067300"/>
            <a:ext cx="81724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A manager can view and act only on requests for employees mapped to that manager. An employee can view only their own profile, balances, notifications, and leave history.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5279FF-C80E-4551-A6AB-29DCCD267E6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736E5D-D1AE-4915-A3AA-262A7E4D94A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FF8F24-2F71-4A69-BC0E-782D8C388BBC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547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7F8633B-A08C-48DE-AC46-4636CD04D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3B1842-6193-461F-A030-1C214DCEF7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DC80EB9-BA10-402C-9265-C1B5238102CB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679D4A0-6342-46AA-BC92-6A931D555CF1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F"/>
                </a:solidFill>
                <a:latin typeface="Aptos"/>
                <a:ea typeface="Aptos"/>
                <a:cs typeface="Aptos"/>
              </a:rPr>
              <a:t>EMPLOYEE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42E62-F02E-4633-B909-4686C5B825B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Leave submission succeeds only after four business validations pass.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5DA3E2-DC31-4B0B-948E-BC444478CC95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1526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A3A3C-7B65-4CDB-BD5D-3C4CB7E5B30D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152650" cy="762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5176A-2089-48F7-8893-12C345AE6739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Date range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578AE-07B8-4D45-88BD-D2D7401EF8E7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1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no past dates; start &lt;= 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20C831-A599-47B5-BCD7-8EDE547123D1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762000" cy="2667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B0A02-C07B-4CC0-B8E0-B953F8E7FB9C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21526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F9B15-E5EA-4A9E-B0FE-C5C3DA6FD577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2152650" cy="762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6B893-3739-49D0-8CE9-5E8EE2533E4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Reporting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ED8DF0-D789-4466-B638-293ACE565DA6}"/>
              </a:ext>
            </a:extLst>
          </p:cNvPr>
          <p:cNvSpPr>
            <a:spLocks noGrp="1"/>
          </p:cNvSpPr>
          <p:nvPr/>
        </p:nvSpPr>
        <p:spPr>
          <a:xfrm>
            <a:off x="3581400" y="3352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1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62717D"/>
                </a:solidFill>
                <a:latin typeface="Aptos"/>
                <a:ea typeface="Aptos"/>
                <a:cs typeface="Aptos"/>
              </a:rPr>
              <a:t>manager mapping verified internally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DB578-7444-4D34-B3EC-7D9249E0339B}"/>
              </a:ext>
            </a:extLst>
          </p:cNvPr>
          <p:cNvSpPr>
            <a:spLocks noGrp="1"/>
          </p:cNvSpPr>
          <p:nvPr/>
        </p:nvSpPr>
        <p:spPr>
          <a:xfrm>
            <a:off x="3581400" y="3905250"/>
            <a:ext cx="762000" cy="26670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8FBA45-AB17-44FC-BAA1-5560B16159C8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21526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2087C9-2193-4E6F-9318-C6BDC392E21C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2152650" cy="7620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A760E5-27F5-4D6B-9A56-8A6552201245}"/>
              </a:ext>
            </a:extLst>
          </p:cNvPr>
          <p:cNvSpPr>
            <a:spLocks noGrp="1"/>
          </p:cNvSpPr>
          <p:nvPr/>
        </p:nvSpPr>
        <p:spPr>
          <a:xfrm>
            <a:off x="6210300" y="2876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Leave balance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A77BE7-7357-4F1A-8368-8E25F4525526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1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remaining days checked by leave type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2B8667-83B1-4F01-B1FE-2F81712544E5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762000" cy="26670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31F557-1A1E-4770-9EE6-DD088C1247DC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15265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DA59DA-DAE3-4A02-B51D-307734D17AAD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152650" cy="7620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82570-43D2-4BDF-A71C-5BD89E1CEBC5}"/>
              </a:ext>
            </a:extLst>
          </p:cNvPr>
          <p:cNvSpPr>
            <a:spLocks noGrp="1"/>
          </p:cNvSpPr>
          <p:nvPr/>
        </p:nvSpPr>
        <p:spPr>
          <a:xfrm>
            <a:off x="8839200" y="28765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Overlap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2C60C7-BCA7-4B27-8C49-F8AFEBC7437F}"/>
              </a:ext>
            </a:extLst>
          </p:cNvPr>
          <p:cNvSpPr>
            <a:spLocks noGrp="1"/>
          </p:cNvSpPr>
          <p:nvPr/>
        </p:nvSpPr>
        <p:spPr>
          <a:xfrm>
            <a:off x="8839200" y="32766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1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pending/approved date conflicts blocked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F7294C-08C7-4BA6-8E98-CBA0F026258D}"/>
              </a:ext>
            </a:extLst>
          </p:cNvPr>
          <p:cNvSpPr>
            <a:spLocks noGrp="1"/>
          </p:cNvSpPr>
          <p:nvPr/>
        </p:nvSpPr>
        <p:spPr>
          <a:xfrm>
            <a:off x="8839200" y="3905250"/>
            <a:ext cx="762000" cy="26670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09D104-6465-4A7B-8DF3-A6B1F8058C97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6286500" cy="3238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EEC5C8-FE1D-4082-B038-CA5D2B63A04B}"/>
              </a:ext>
            </a:extLst>
          </p:cNvPr>
          <p:cNvSpPr>
            <a:spLocks noGrp="1"/>
          </p:cNvSpPr>
          <p:nvPr/>
        </p:nvSpPr>
        <p:spPr>
          <a:xfrm>
            <a:off x="2724150" y="5019675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47625" rIns="57150" bIns="47625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 success: status = PENDING and LEAVE_APPLIED event is published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BBECDF-D431-44EA-95DB-993E3E3DD8D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36FBD0-EEF0-4037-85DC-D475D6D435C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F5D49E-1290-403C-87FB-077593D09741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9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671E2FC-7024-4CB1-8AAD-2DC32B4DF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A5C65-ED42-4BA7-9F9E-99815093C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2108205-D5FB-48B7-8E1C-ABF0F9316F3A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0DE598F-8D94-4AA7-9EC3-C7F48942BAD2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MANAGER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E4644-00AC-4D14-936D-5BC2DC1B625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191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Managers get filtered team visibility and controlled status transitions.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CFD3F-0F0D-4B3A-A74A-C8DBB5E21B93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857500" cy="121920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780E1-57FF-46FC-8571-9542240B2820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857500" cy="476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EB5012-B755-4A00-98A7-60DF7EFF8339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E98C05-334C-4826-A24E-5197AB9A8B31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2552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GET /manager/leaves supports status, employee, and date-range filters.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DE809E-E00F-401E-AD80-F105C66BEF7D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2857500" cy="121920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7A879-60F7-4D52-9C6D-F7A3C2AA66C9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2857500" cy="47625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B56B37-DD31-43D0-9257-43374C17682A}"/>
              </a:ext>
            </a:extLst>
          </p:cNvPr>
          <p:cNvSpPr>
            <a:spLocks noGrp="1"/>
          </p:cNvSpPr>
          <p:nvPr/>
        </p:nvSpPr>
        <p:spPr>
          <a:xfrm>
            <a:off x="4819650" y="25527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38AE4-7F7D-4579-8940-957B9A9A0723}"/>
              </a:ext>
            </a:extLst>
          </p:cNvPr>
          <p:cNvSpPr>
            <a:spLocks noGrp="1"/>
          </p:cNvSpPr>
          <p:nvPr/>
        </p:nvSpPr>
        <p:spPr>
          <a:xfrm>
            <a:off x="4819650" y="2895600"/>
            <a:ext cx="2552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POST approve deducts balance via employee-service, then marks request APPROVED.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DB63DF-5733-4DE4-8C08-07F278E32FF8}"/>
              </a:ext>
            </a:extLst>
          </p:cNvPr>
          <p:cNvSpPr>
            <a:spLocks noGrp="1"/>
          </p:cNvSpPr>
          <p:nvPr/>
        </p:nvSpPr>
        <p:spPr>
          <a:xfrm>
            <a:off x="8458200" y="2381250"/>
            <a:ext cx="2857500" cy="121920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A55B7C-14CC-4DBC-9563-AD5949F7A2C8}"/>
              </a:ext>
            </a:extLst>
          </p:cNvPr>
          <p:cNvSpPr>
            <a:spLocks noGrp="1"/>
          </p:cNvSpPr>
          <p:nvPr/>
        </p:nvSpPr>
        <p:spPr>
          <a:xfrm>
            <a:off x="8458200" y="2381250"/>
            <a:ext cx="285750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BAD1-BEFD-4BF7-BB29-3173018E5EEE}"/>
              </a:ext>
            </a:extLst>
          </p:cNvPr>
          <p:cNvSpPr>
            <a:spLocks noGrp="1"/>
          </p:cNvSpPr>
          <p:nvPr/>
        </p:nvSpPr>
        <p:spPr>
          <a:xfrm>
            <a:off x="8610600" y="25527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B86D93-2DDC-4EEA-A679-71F22FC658C2}"/>
              </a:ext>
            </a:extLst>
          </p:cNvPr>
          <p:cNvSpPr>
            <a:spLocks noGrp="1"/>
          </p:cNvSpPr>
          <p:nvPr/>
        </p:nvSpPr>
        <p:spPr>
          <a:xfrm>
            <a:off x="8610600" y="2895600"/>
            <a:ext cx="2552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POST reject stores manager comments, marks request REJECTED, and notifies employee.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FE11F-9AA7-43D1-8AA6-FA182A8CBD65}"/>
              </a:ext>
            </a:extLst>
          </p:cNvPr>
          <p:cNvSpPr>
            <a:spLocks noGrp="1"/>
          </p:cNvSpPr>
          <p:nvPr/>
        </p:nvSpPr>
        <p:spPr>
          <a:xfrm>
            <a:off x="3733800" y="2971800"/>
            <a:ext cx="933450" cy="28575"/>
          </a:xfrm>
          <a:prstGeom prst="rect">
            <a:avLst/>
          </a:prstGeom>
          <a:solidFill>
            <a:srgbClr val="D7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F63D21-A669-48FF-B93F-0B596D6C902E}"/>
              </a:ext>
            </a:extLst>
          </p:cNvPr>
          <p:cNvSpPr>
            <a:spLocks noGrp="1"/>
          </p:cNvSpPr>
          <p:nvPr/>
        </p:nvSpPr>
        <p:spPr>
          <a:xfrm>
            <a:off x="7524750" y="2971800"/>
            <a:ext cx="933450" cy="28575"/>
          </a:xfrm>
          <a:prstGeom prst="rect">
            <a:avLst/>
          </a:prstGeom>
          <a:solidFill>
            <a:srgbClr val="D7E5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F241B2-E171-4848-AD9E-59C42D88786A}"/>
              </a:ext>
            </a:extLst>
          </p:cNvPr>
          <p:cNvSpPr>
            <a:spLocks noGrp="1"/>
          </p:cNvSpPr>
          <p:nvPr/>
        </p:nvSpPr>
        <p:spPr>
          <a:xfrm>
            <a:off x="1619250" y="4629150"/>
            <a:ext cx="8953500" cy="666750"/>
          </a:xfrm>
          <a:prstGeom prst="rect">
            <a:avLst/>
          </a:prstGeom>
          <a:solidFill>
            <a:srgbClr val="182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rules prevent acting on unrelated team requests or non-pending requests, so the manager flow protects both ownership and leave accounting.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854AC4-9E55-42EF-8957-4A7468E4834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3241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A2CE8D-68B6-4572-B6F5-7ADBC15690C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BAD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DB8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001D20-D734-4E7E-93F6-C9D8D067A343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0011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460ABEF-7F38-4D0A-B662-58C817B8C2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9AD9D7-063A-41FC-A727-7721C3C82B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08B07C5C-6CE7-46C3-920A-4B0B4377801B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C6258F4-E726-40B8-9AD8-64835536214D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F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C6841-AD8E-416E-8EB0-C8581A605AE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assignment's automatic allocation is stored as seeded balance rows.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4E839-4272-417A-881C-7B9FAB0FCA63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4337568" cy="313314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D319A-7CB1-4850-BDCD-D62333027B42}"/>
              </a:ext>
            </a:extLst>
          </p:cNvPr>
          <p:cNvSpPr>
            <a:spLocks noGrp="1"/>
          </p:cNvSpPr>
          <p:nvPr/>
        </p:nvSpPr>
        <p:spPr>
          <a:xfrm>
            <a:off x="1238250" y="2647950"/>
            <a:ext cx="2190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leave_balances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64F2A-F859-424B-BD60-1B47FD065E4B}"/>
              </a:ext>
            </a:extLst>
          </p:cNvPr>
          <p:cNvSpPr>
            <a:spLocks noGrp="1"/>
          </p:cNvSpPr>
          <p:nvPr/>
        </p:nvSpPr>
        <p:spPr>
          <a:xfrm>
            <a:off x="1238250" y="3028950"/>
            <a:ext cx="342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employeeId + leaveType is unique. usedLeaves starts at zero; remainingLeaves is calculated as totalAllocated - usedLeaves.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E40D65-A4D8-4EF2-8378-715A37D5C57E}"/>
              </a:ext>
            </a:extLst>
          </p:cNvPr>
          <p:cNvSpPr>
            <a:spLocks noGrp="1"/>
          </p:cNvSpPr>
          <p:nvPr/>
        </p:nvSpPr>
        <p:spPr>
          <a:xfrm>
            <a:off x="1238250" y="4038600"/>
            <a:ext cx="2857500" cy="323850"/>
          </a:xfrm>
          <a:prstGeom prst="rect">
            <a:avLst/>
          </a:prstGeom>
          <a:solidFill>
            <a:srgbClr val="F2F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91192-8C3D-4ECA-BE0F-2EB19258DE57}"/>
              </a:ext>
            </a:extLst>
          </p:cNvPr>
          <p:cNvSpPr>
            <a:spLocks noGrp="1"/>
          </p:cNvSpPr>
          <p:nvPr/>
        </p:nvSpPr>
        <p:spPr>
          <a:xfrm>
            <a:off x="1238250" y="4038600"/>
            <a:ext cx="47625" cy="3238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5443C8-1591-49E9-AE2C-A0C03284989D}"/>
              </a:ext>
            </a:extLst>
          </p:cNvPr>
          <p:cNvSpPr>
            <a:spLocks noGrp="1"/>
          </p:cNvSpPr>
          <p:nvPr/>
        </p:nvSpPr>
        <p:spPr>
          <a:xfrm>
            <a:off x="1390650" y="406717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CASUAL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21A77A-F82F-4F51-8833-9A2CE526DDC2}"/>
              </a:ext>
            </a:extLst>
          </p:cNvPr>
          <p:cNvSpPr>
            <a:spLocks noGrp="1"/>
          </p:cNvSpPr>
          <p:nvPr/>
        </p:nvSpPr>
        <p:spPr>
          <a:xfrm>
            <a:off x="3428999" y="4067175"/>
            <a:ext cx="7715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12 days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22C9D-70E5-4D1D-A706-6547BC2BDFC7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2857500" cy="323850"/>
          </a:xfrm>
          <a:prstGeom prst="rect">
            <a:avLst/>
          </a:prstGeom>
          <a:solidFill>
            <a:srgbClr val="F2F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34D072-317C-4408-A491-7CA9D0ED1AC0}"/>
              </a:ext>
            </a:extLst>
          </p:cNvPr>
          <p:cNvSpPr>
            <a:spLocks noGrp="1"/>
          </p:cNvSpPr>
          <p:nvPr/>
        </p:nvSpPr>
        <p:spPr>
          <a:xfrm>
            <a:off x="1238250" y="4476750"/>
            <a:ext cx="47625" cy="3238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DFE0A-EBA7-4574-8943-538316328F99}"/>
              </a:ext>
            </a:extLst>
          </p:cNvPr>
          <p:cNvSpPr>
            <a:spLocks noGrp="1"/>
          </p:cNvSpPr>
          <p:nvPr/>
        </p:nvSpPr>
        <p:spPr>
          <a:xfrm>
            <a:off x="1390650" y="450532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61FAA8-8F78-4CC8-8413-90B6747E9E47}"/>
              </a:ext>
            </a:extLst>
          </p:cNvPr>
          <p:cNvSpPr>
            <a:spLocks noGrp="1"/>
          </p:cNvSpPr>
          <p:nvPr/>
        </p:nvSpPr>
        <p:spPr>
          <a:xfrm>
            <a:off x="3429000" y="4505325"/>
            <a:ext cx="77152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10 days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A1CB2E-CE90-419B-8BA0-2C3FA20C9595}"/>
              </a:ext>
            </a:extLst>
          </p:cNvPr>
          <p:cNvSpPr>
            <a:spLocks noGrp="1"/>
          </p:cNvSpPr>
          <p:nvPr/>
        </p:nvSpPr>
        <p:spPr>
          <a:xfrm>
            <a:off x="1238250" y="4914900"/>
            <a:ext cx="2857500" cy="323850"/>
          </a:xfrm>
          <a:prstGeom prst="rect">
            <a:avLst/>
          </a:prstGeom>
          <a:solidFill>
            <a:srgbClr val="F2F7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CD4745-500F-4888-8C49-EA28A1C27658}"/>
              </a:ext>
            </a:extLst>
          </p:cNvPr>
          <p:cNvSpPr>
            <a:spLocks noGrp="1"/>
          </p:cNvSpPr>
          <p:nvPr/>
        </p:nvSpPr>
        <p:spPr>
          <a:xfrm>
            <a:off x="1238250" y="4914900"/>
            <a:ext cx="47625" cy="3238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95A9C1-3EAA-4FEF-BA67-C4E1F32153C1}"/>
              </a:ext>
            </a:extLst>
          </p:cNvPr>
          <p:cNvSpPr>
            <a:spLocks noGrp="1"/>
          </p:cNvSpPr>
          <p:nvPr/>
        </p:nvSpPr>
        <p:spPr>
          <a:xfrm>
            <a:off x="1390650" y="4943475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PRIVILEGE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FDEE1-3CB2-4A4E-9BE2-26C6816BE8CF}"/>
              </a:ext>
            </a:extLst>
          </p:cNvPr>
          <p:cNvSpPr>
            <a:spLocks noGrp="1"/>
          </p:cNvSpPr>
          <p:nvPr/>
        </p:nvSpPr>
        <p:spPr>
          <a:xfrm>
            <a:off x="3429000" y="4943475"/>
            <a:ext cx="771524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15 days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A3D8D6-1421-492D-8D40-748774837794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3714750" cy="2476500"/>
          </a:xfrm>
          <a:prstGeom prst="rect">
            <a:avLst/>
          </a:prstGeom>
          <a:solidFill>
            <a:srgbClr val="1726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84A4C9-7E0B-4C7A-B769-D11E285D92A3}"/>
              </a:ext>
            </a:extLst>
          </p:cNvPr>
          <p:cNvSpPr>
            <a:spLocks noGrp="1"/>
          </p:cNvSpPr>
          <p:nvPr/>
        </p:nvSpPr>
        <p:spPr>
          <a:xfrm>
            <a:off x="6896100" y="27051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Seeder behavior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1E7DDE-11C3-4AE3-8E7C-3CF5F24B1425}"/>
              </a:ext>
            </a:extLst>
          </p:cNvPr>
          <p:cNvSpPr>
            <a:spLocks noGrp="1"/>
          </p:cNvSpPr>
          <p:nvPr/>
        </p:nvSpPr>
        <p:spPr>
          <a:xfrm>
            <a:off x="6896100" y="3181350"/>
            <a:ext cx="27241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75" b="0">
                <a:solidFill>
                  <a:srgbClr val="C8D5D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5DC"/>
                </a:solidFill>
                <a:latin typeface="Aptos"/>
                <a:ea typeface="Aptos"/>
                <a:cs typeface="Aptos"/>
              </a:rPr>
              <a:t>DataSeeder inserts employees and leave balances only when the employee table is empty. Existing Docker volumes keep existing rows.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6F60B0-5BFE-4D87-A72E-F64A64D6530B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Reset demo data with docker compose down -v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73E92C-8CC8-4A92-8A8A-92AA0BD45F0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3A7BE4-7BD6-432E-A9C4-3AA2C4C1FED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70CDDD-75D6-4C03-987B-53ED9D9A35EA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649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726AF5-846D-447A-96FF-5723E26BD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7C4BB-05B9-451C-991E-2594DE364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8374FE5-72CC-4264-B264-D0F27685F7FB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56E12B9-113C-410D-8AAF-DD3053B46832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4F"/>
                </a:solidFill>
                <a:latin typeface="Aptos"/>
                <a:ea typeface="Aptos"/>
                <a:cs typeface="Aptos"/>
              </a:rPr>
              <a:t>ASYNC COMMUNICATION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1258F-0FD6-442C-96FA-BDAD74FE1DA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RabbitMQ decouples leave decisions from notification persistence.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083A9-BD28-4E33-BDAF-12E784EC4DA3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28575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B464B-B32E-4A2D-B38C-0B5F35FD9DBC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2857500" cy="47625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B68F87-35E5-475D-8325-705ADDF4E67D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Producer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E914C2-C6DE-45BA-85B9-CC71CD14047A}"/>
              </a:ext>
            </a:extLst>
          </p:cNvPr>
          <p:cNvSpPr>
            <a:spLocks noGrp="1"/>
          </p:cNvSpPr>
          <p:nvPr/>
        </p:nvSpPr>
        <p:spPr>
          <a:xfrm>
            <a:off x="933450" y="3219450"/>
            <a:ext cx="255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leave-service publishes LEAVE_APPLIED, LEAVE_APPROVED, and LEAVE_REJECTED events.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EF14B2-F2F8-4CA1-B87C-FA58266AB06B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28575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405A94-D5C8-41E3-AF52-CFE9D7A455A1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2857500" cy="476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E9968F-32EB-4A11-90FD-E64020B11524}"/>
              </a:ext>
            </a:extLst>
          </p:cNvPr>
          <p:cNvSpPr>
            <a:spLocks noGrp="1"/>
          </p:cNvSpPr>
          <p:nvPr/>
        </p:nvSpPr>
        <p:spPr>
          <a:xfrm>
            <a:off x="4819650" y="2876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FDE8BE-A2F0-4597-A59A-AC1D2F59A857}"/>
              </a:ext>
            </a:extLst>
          </p:cNvPr>
          <p:cNvSpPr>
            <a:spLocks noGrp="1"/>
          </p:cNvSpPr>
          <p:nvPr/>
        </p:nvSpPr>
        <p:spPr>
          <a:xfrm>
            <a:off x="4819650" y="3219450"/>
            <a:ext cx="255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Exchange leave.events routes messages with leave.notification to notification.events.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98E04-6FD7-4D75-BBA1-01CF07277772}"/>
              </a:ext>
            </a:extLst>
          </p:cNvPr>
          <p:cNvSpPr>
            <a:spLocks noGrp="1"/>
          </p:cNvSpPr>
          <p:nvPr/>
        </p:nvSpPr>
        <p:spPr>
          <a:xfrm>
            <a:off x="8553450" y="2705100"/>
            <a:ext cx="28575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8F5465-0762-488C-B263-113C60AB4E80}"/>
              </a:ext>
            </a:extLst>
          </p:cNvPr>
          <p:cNvSpPr>
            <a:spLocks noGrp="1"/>
          </p:cNvSpPr>
          <p:nvPr/>
        </p:nvSpPr>
        <p:spPr>
          <a:xfrm>
            <a:off x="8553450" y="2705100"/>
            <a:ext cx="2857500" cy="47625"/>
          </a:xfrm>
          <a:prstGeom prst="rect">
            <a:avLst/>
          </a:prstGeom>
          <a:solidFill>
            <a:srgbClr val="65B9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13642-8535-4E94-B0B8-D83770C46C64}"/>
              </a:ext>
            </a:extLst>
          </p:cNvPr>
          <p:cNvSpPr>
            <a:spLocks noGrp="1"/>
          </p:cNvSpPr>
          <p:nvPr/>
        </p:nvSpPr>
        <p:spPr>
          <a:xfrm>
            <a:off x="8705850" y="2876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Consumer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26285C-E12F-4518-AA3D-46A818C2C2C1}"/>
              </a:ext>
            </a:extLst>
          </p:cNvPr>
          <p:cNvSpPr>
            <a:spLocks noGrp="1"/>
          </p:cNvSpPr>
          <p:nvPr/>
        </p:nvSpPr>
        <p:spPr>
          <a:xfrm>
            <a:off x="8705850" y="3219450"/>
            <a:ext cx="255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notification-service consumes events and stores notification records for users.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15F01-F442-4592-8520-9C48371FB1C8}"/>
              </a:ext>
            </a:extLst>
          </p:cNvPr>
          <p:cNvSpPr>
            <a:spLocks noGrp="1"/>
          </p:cNvSpPr>
          <p:nvPr/>
        </p:nvSpPr>
        <p:spPr>
          <a:xfrm>
            <a:off x="3638550" y="3314700"/>
            <a:ext cx="102870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4DCF61-A1AE-454B-9AF0-24FA477AC416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028700" cy="2857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A9977-E783-463F-AC13-9095FECFF7F1}"/>
              </a:ext>
            </a:extLst>
          </p:cNvPr>
          <p:cNvSpPr>
            <a:spLocks noGrp="1"/>
          </p:cNvSpPr>
          <p:nvPr/>
        </p:nvSpPr>
        <p:spPr>
          <a:xfrm>
            <a:off x="2057400" y="4895850"/>
            <a:ext cx="7924800" cy="476250"/>
          </a:xfrm>
          <a:prstGeom prst="rect">
            <a:avLst/>
          </a:prstGeom>
          <a:solidFill>
            <a:srgbClr val="E8EF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ctr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This satisfies the requirement for notification via log/records without real email or SMS integration.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8720DF-7440-4F83-AFB1-63606B197D0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71A5FD-9365-4A61-8040-206EF4F6485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EA4408-3787-4E20-AC2E-4692164A0628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403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9E1CBD8-FF91-4480-8CE9-3D636A9988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811B3-AED8-4F50-87BB-D531F45A6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E78E7B2-22DE-4045-84B1-76655172FF44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3A7BAED-E3C6-4314-ADDF-38C8F55223F2}"/>
              </a:ext>
            </a:extLst>
          </p:cNvPr>
          <p:cNvSpPr>
            <a:spLocks noGrp="1"/>
          </p:cNvSpPr>
          <p:nvPr/>
        </p:nvSpPr>
        <p:spPr>
          <a:xfrm>
            <a:off x="781050" y="4191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RESILIENCE &amp; OBSERVABILITY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E46BA-64A9-48EB-842A-2F9E2277BB3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191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demo exposes both failure handling and runtime visibility.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09C18-5B6B-4CA0-985A-1246021B5814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8575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89406-AE50-4AE3-AF4D-C1C2BB3ED592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7625" cy="7810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4F346-3DBC-413D-935F-CBFE001A3A6E}"/>
              </a:ext>
            </a:extLst>
          </p:cNvPr>
          <p:cNvSpPr>
            <a:spLocks noGrp="1"/>
          </p:cNvSpPr>
          <p:nvPr/>
        </p:nvSpPr>
        <p:spPr>
          <a:xfrm>
            <a:off x="1028700" y="2428875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Resilience4j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F75A2-DD1E-4269-ADBD-AAE48E116322}"/>
              </a:ext>
            </a:extLst>
          </p:cNvPr>
          <p:cNvSpPr>
            <a:spLocks noGrp="1"/>
          </p:cNvSpPr>
          <p:nvPr/>
        </p:nvSpPr>
        <p:spPr>
          <a:xfrm>
            <a:off x="1028700" y="27717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circuit breaker: employeeService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6D574A-D9CA-4E6B-B787-8F6F137314E5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28575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F94611-9D0B-4250-8EA9-6312114EEAFD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47625" cy="7810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0E4F26-92D9-4DE2-8379-E22A2A64ECE6}"/>
              </a:ext>
            </a:extLst>
          </p:cNvPr>
          <p:cNvSpPr>
            <a:spLocks noGrp="1"/>
          </p:cNvSpPr>
          <p:nvPr/>
        </p:nvSpPr>
        <p:spPr>
          <a:xfrm>
            <a:off x="4819650" y="2428875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26393E-B746-487D-A9A2-EEA9D8376C00}"/>
              </a:ext>
            </a:extLst>
          </p:cNvPr>
          <p:cNvSpPr>
            <a:spLocks noGrp="1"/>
          </p:cNvSpPr>
          <p:nvPr/>
        </p:nvSpPr>
        <p:spPr>
          <a:xfrm>
            <a:off x="4819650" y="27717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health, info, circuitbreakers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4A898E-A9D4-4B4C-B0A5-FF058C5C9E89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857500" cy="781050"/>
          </a:xfrm>
          <a:prstGeom prst="rect">
            <a:avLst/>
          </a:prstGeom>
          <a:solidFill>
            <a:srgbClr val="172638"/>
          </a:solidFill>
          <a:ln w="9525">
            <a:solidFill>
              <a:srgbClr val="30415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C84708-EC50-4245-B5CC-BF2D3B27A341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47625" cy="78105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5BF749-77DD-48F2-B9BF-363317A0A2AD}"/>
              </a:ext>
            </a:extLst>
          </p:cNvPr>
          <p:cNvSpPr>
            <a:spLocks noGrp="1"/>
          </p:cNvSpPr>
          <p:nvPr/>
        </p:nvSpPr>
        <p:spPr>
          <a:xfrm>
            <a:off x="8610600" y="2428875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Zipkin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2BF152-4139-4D15-B653-340AD92760D7}"/>
              </a:ext>
            </a:extLst>
          </p:cNvPr>
          <p:cNvSpPr>
            <a:spLocks noGrp="1"/>
          </p:cNvSpPr>
          <p:nvPr/>
        </p:nvSpPr>
        <p:spPr>
          <a:xfrm>
            <a:off x="8610600" y="2771775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8C7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7D0"/>
                </a:solidFill>
                <a:latin typeface="Aptos"/>
                <a:ea typeface="Aptos"/>
                <a:cs typeface="Aptos"/>
              </a:rPr>
              <a:t>distributed trace timeline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E3B483-64F2-449D-A13C-75347F65B86F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4781550" cy="121920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982A65-2DD2-4B05-8541-05C61F8B8F49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4781550" cy="476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37A9C2-0116-4C01-815B-136667F5C287}"/>
              </a:ext>
            </a:extLst>
          </p:cNvPr>
          <p:cNvSpPr>
            <a:spLocks noGrp="1"/>
          </p:cNvSpPr>
          <p:nvPr/>
        </p:nvSpPr>
        <p:spPr>
          <a:xfrm>
            <a:off x="1028700" y="3886200"/>
            <a:ext cx="447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Circuit breaker proof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52429-DD21-4D05-8B33-A3305FE0B82F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4476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Stop employee-service, apply leave repeatedly, then inspect /actuator/circuitbreakers/employeeService on leave-service.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167861-FB8E-4EF1-86E3-C0797D3D81C5}"/>
              </a:ext>
            </a:extLst>
          </p:cNvPr>
          <p:cNvSpPr>
            <a:spLocks noGrp="1"/>
          </p:cNvSpPr>
          <p:nvPr/>
        </p:nvSpPr>
        <p:spPr>
          <a:xfrm>
            <a:off x="6534150" y="3714750"/>
            <a:ext cx="4781550" cy="1219200"/>
          </a:xfrm>
          <a:prstGeom prst="rect">
            <a:avLst/>
          </a:prstGeom>
          <a:solidFill>
            <a:srgbClr val="172638"/>
          </a:solidFill>
          <a:ln w="9525">
            <a:solidFill>
              <a:srgbClr val="31435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4B47B6-CE3E-43C9-A8FB-90B7E969D381}"/>
              </a:ext>
            </a:extLst>
          </p:cNvPr>
          <p:cNvSpPr>
            <a:spLocks noGrp="1"/>
          </p:cNvSpPr>
          <p:nvPr/>
        </p:nvSpPr>
        <p:spPr>
          <a:xfrm>
            <a:off x="6534150" y="3714750"/>
            <a:ext cx="4781550" cy="47625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5CA55D-F016-444F-832C-9E4B95333EA3}"/>
              </a:ext>
            </a:extLst>
          </p:cNvPr>
          <p:cNvSpPr>
            <a:spLocks noGrp="1"/>
          </p:cNvSpPr>
          <p:nvPr/>
        </p:nvSpPr>
        <p:spPr>
          <a:xfrm>
            <a:off x="6686550" y="3886200"/>
            <a:ext cx="447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 proof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17D9E2-D809-4C79-98AB-5CA275040CC3}"/>
              </a:ext>
            </a:extLst>
          </p:cNvPr>
          <p:cNvSpPr>
            <a:spLocks noGrp="1"/>
          </p:cNvSpPr>
          <p:nvPr/>
        </p:nvSpPr>
        <p:spPr>
          <a:xfrm>
            <a:off x="6686550" y="4229100"/>
            <a:ext cx="4476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D6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6DC"/>
                </a:solidFill>
                <a:latin typeface="Aptos"/>
                <a:ea typeface="Aptos"/>
                <a:cs typeface="Aptos"/>
              </a:rPr>
              <a:t>Filebeat ships Docker logs to Elasticsearch; Kibana data view employee-leave-tracker-* supports service-level filtering.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2D5629-1F93-4CBF-9F98-66E5528869C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3241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AAD54A-8ECC-4D06-B664-6702F4DF55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9BAD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DB8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3015AF-45CF-4265-BD59-347414F6E079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981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B2AB197-5988-4902-9115-26F4238239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4B72FD-BF72-4B37-AEF6-F59D420C75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222120E-D34B-4420-A027-552CF2B86B5D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85725" cy="85725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A455006C-33D2-4D61-AB20-A8B1A6067309}"/>
              </a:ext>
            </a:extLst>
          </p:cNvPr>
          <p:cNvSpPr>
            <a:spLocks noGrp="1"/>
          </p:cNvSpPr>
          <p:nvPr/>
        </p:nvSpPr>
        <p:spPr>
          <a:xfrm>
            <a:off x="828675" y="46672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85D4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E85D4F"/>
                </a:solidFill>
                <a:latin typeface="Aptos"/>
                <a:ea typeface="Aptos"/>
                <a:cs typeface="Aptos"/>
              </a:rPr>
              <a:t>SUBMISSION READINESS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27E52-835A-4F17-8860-7FEC246F9DE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repository now maps cleanly to the assignment checklist.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472FC-C836-4C71-9C1D-298435ED6AA1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A28B3-B0CC-4748-8664-7244CF7429FE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47625" cy="514350"/>
          </a:xfrm>
          <a:prstGeom prst="rect">
            <a:avLst/>
          </a:prstGeom>
          <a:solidFill>
            <a:srgbClr val="E85D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0E807-2C9B-4556-89DF-7850A89E08D3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Architecture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A5E34-7E4F-4BAE-931B-2785610064BE}"/>
              </a:ext>
            </a:extLst>
          </p:cNvPr>
          <p:cNvSpPr>
            <a:spLocks noGrp="1"/>
          </p:cNvSpPr>
          <p:nvPr/>
        </p:nvSpPr>
        <p:spPr>
          <a:xfrm>
            <a:off x="2743200" y="2295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documentation/architecture-design.md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191D9-67BC-43F4-8566-A596DDA70966}"/>
              </a:ext>
            </a:extLst>
          </p:cNvPr>
          <p:cNvSpPr>
            <a:spLocks noGrp="1"/>
          </p:cNvSpPr>
          <p:nvPr/>
        </p:nvSpPr>
        <p:spPr>
          <a:xfrm>
            <a:off x="6000750" y="2228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88792F-86C7-4D95-96EA-24E8CEDB49AD}"/>
              </a:ext>
            </a:extLst>
          </p:cNvPr>
          <p:cNvSpPr>
            <a:spLocks noGrp="1"/>
          </p:cNvSpPr>
          <p:nvPr/>
        </p:nvSpPr>
        <p:spPr>
          <a:xfrm>
            <a:off x="6000750" y="2228850"/>
            <a:ext cx="47625" cy="5143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D2A69-F8E9-499B-B337-C4BD13C94D07}"/>
              </a:ext>
            </a:extLst>
          </p:cNvPr>
          <p:cNvSpPr>
            <a:spLocks noGrp="1"/>
          </p:cNvSpPr>
          <p:nvPr/>
        </p:nvSpPr>
        <p:spPr>
          <a:xfrm>
            <a:off x="6172200" y="2295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API docs + samples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C30094-2C14-488F-83B3-44D080B516BB}"/>
              </a:ext>
            </a:extLst>
          </p:cNvPr>
          <p:cNvSpPr>
            <a:spLocks noGrp="1"/>
          </p:cNvSpPr>
          <p:nvPr/>
        </p:nvSpPr>
        <p:spPr>
          <a:xfrm>
            <a:off x="7962900" y="2295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documentation/api-documentation.md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3E46B0-9844-4AE1-9935-42DCAAA484EA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8599D-62DE-43C9-BBFE-C679CE6051BE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47625" cy="514350"/>
          </a:xfrm>
          <a:prstGeom prst="rect">
            <a:avLst/>
          </a:prstGeom>
          <a:solidFill>
            <a:srgbClr val="F2B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1E39F7-D454-4BA5-9BF9-6ABF6563AF16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Inter-service writeup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56F22-3E9D-4399-9083-0CA016F19BA1}"/>
              </a:ext>
            </a:extLst>
          </p:cNvPr>
          <p:cNvSpPr>
            <a:spLocks noGrp="1"/>
          </p:cNvSpPr>
          <p:nvPr/>
        </p:nvSpPr>
        <p:spPr>
          <a:xfrm>
            <a:off x="2743200" y="3057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documentation/inter-service-communication.md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8828F8-9DE2-4DEA-AE0A-3A2E76F13E91}"/>
              </a:ext>
            </a:extLst>
          </p:cNvPr>
          <p:cNvSpPr>
            <a:spLocks noGrp="1"/>
          </p:cNvSpPr>
          <p:nvPr/>
        </p:nvSpPr>
        <p:spPr>
          <a:xfrm>
            <a:off x="6000750" y="2990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7A4088-433A-4976-B250-5FD3EE1A18E0}"/>
              </a:ext>
            </a:extLst>
          </p:cNvPr>
          <p:cNvSpPr>
            <a:spLocks noGrp="1"/>
          </p:cNvSpPr>
          <p:nvPr/>
        </p:nvSpPr>
        <p:spPr>
          <a:xfrm>
            <a:off x="6000750" y="2990850"/>
            <a:ext cx="47625" cy="514350"/>
          </a:xfrm>
          <a:prstGeom prst="rect">
            <a:avLst/>
          </a:prstGeom>
          <a:solidFill>
            <a:srgbClr val="4E8F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E9E6ED-1780-47E7-9CC3-A0E28CA44F41}"/>
              </a:ext>
            </a:extLst>
          </p:cNvPr>
          <p:cNvSpPr>
            <a:spLocks noGrp="1"/>
          </p:cNvSpPr>
          <p:nvPr/>
        </p:nvSpPr>
        <p:spPr>
          <a:xfrm>
            <a:off x="6172200" y="3057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DD51A9-8F88-4790-92CF-1EFAB5F92344}"/>
              </a:ext>
            </a:extLst>
          </p:cNvPr>
          <p:cNvSpPr>
            <a:spLocks noGrp="1"/>
          </p:cNvSpPr>
          <p:nvPr/>
        </p:nvSpPr>
        <p:spPr>
          <a:xfrm>
            <a:off x="7962900" y="3057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docker-compose.yml single-command startup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A4E20E-236A-4260-A421-6EAD3D77721C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F57E6-06A8-4F64-9A1C-2E10C5C7AB7D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47625" cy="514350"/>
          </a:xfrm>
          <a:prstGeom prst="rect">
            <a:avLst/>
          </a:prstGeom>
          <a:solidFill>
            <a:srgbClr val="8F6A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C08EB1-FFC0-4A10-B003-C4C568DCC6FC}"/>
              </a:ext>
            </a:extLst>
          </p:cNvPr>
          <p:cNvSpPr>
            <a:spLocks noGrp="1"/>
          </p:cNvSpPr>
          <p:nvPr/>
        </p:nvSpPr>
        <p:spPr>
          <a:xfrm>
            <a:off x="952500" y="3819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Postman collection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B7ADEA-D103-4645-B63F-BE96496E95FF}"/>
              </a:ext>
            </a:extLst>
          </p:cNvPr>
          <p:cNvSpPr>
            <a:spLocks noGrp="1"/>
          </p:cNvSpPr>
          <p:nvPr/>
        </p:nvSpPr>
        <p:spPr>
          <a:xfrm>
            <a:off x="2743200" y="3819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documentation/postman-collection.json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5B279E-CB5E-4F41-8F64-D679D021C35A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55AEE-8E4B-497F-836F-7A5B8FAAC577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47625" cy="514350"/>
          </a:xfrm>
          <a:prstGeom prst="rect">
            <a:avLst/>
          </a:prstGeom>
          <a:solidFill>
            <a:srgbClr val="65B9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F4DA07-05DB-4876-95B5-0F4C36994B8C}"/>
              </a:ext>
            </a:extLst>
          </p:cNvPr>
          <p:cNvSpPr>
            <a:spLocks noGrp="1"/>
          </p:cNvSpPr>
          <p:nvPr/>
        </p:nvSpPr>
        <p:spPr>
          <a:xfrm>
            <a:off x="6172200" y="3819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README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B66CD-16E5-4E10-AAF1-245D66C59A2B}"/>
              </a:ext>
            </a:extLst>
          </p:cNvPr>
          <p:cNvSpPr>
            <a:spLocks noGrp="1"/>
          </p:cNvSpPr>
          <p:nvPr/>
        </p:nvSpPr>
        <p:spPr>
          <a:xfrm>
            <a:off x="7962900" y="3819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setup, ports, credentials, testing, balances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F0A873-06C4-45E5-BFED-508818A5984B}"/>
              </a:ext>
            </a:extLst>
          </p:cNvPr>
          <p:cNvSpPr>
            <a:spLocks noGrp="1"/>
          </p:cNvSpPr>
          <p:nvPr/>
        </p:nvSpPr>
        <p:spPr>
          <a:xfrm>
            <a:off x="6000750" y="4514850"/>
            <a:ext cx="46863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4A4B1A-72DA-49C0-9747-3543961A360E}"/>
              </a:ext>
            </a:extLst>
          </p:cNvPr>
          <p:cNvSpPr>
            <a:spLocks noGrp="1"/>
          </p:cNvSpPr>
          <p:nvPr/>
        </p:nvSpPr>
        <p:spPr>
          <a:xfrm>
            <a:off x="6000750" y="4514850"/>
            <a:ext cx="47625" cy="514350"/>
          </a:xfrm>
          <a:prstGeom prst="rect">
            <a:avLst/>
          </a:prstGeom>
          <a:solidFill>
            <a:srgbClr val="2FB7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8B7554-CD73-46A7-9C3B-F79D3B3128A2}"/>
              </a:ext>
            </a:extLst>
          </p:cNvPr>
          <p:cNvSpPr>
            <a:spLocks noGrp="1"/>
          </p:cNvSpPr>
          <p:nvPr/>
        </p:nvSpPr>
        <p:spPr>
          <a:xfrm>
            <a:off x="6172200" y="4581525"/>
            <a:ext cx="1695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Docker images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2D11EE-C04F-489A-881F-F3C86FB1516A}"/>
              </a:ext>
            </a:extLst>
          </p:cNvPr>
          <p:cNvSpPr>
            <a:spLocks noGrp="1"/>
          </p:cNvSpPr>
          <p:nvPr/>
        </p:nvSpPr>
        <p:spPr>
          <a:xfrm>
            <a:off x="7962900" y="4581525"/>
            <a:ext cx="2571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95250" bIns="76200" anchor="t"/>
          <a:lstStyle/>
          <a:p>
            <a:pPr algn="l">
              <a:defRPr sz="825" b="0">
                <a:solidFill>
                  <a:srgbClr val="62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17D"/>
                </a:solidFill>
                <a:latin typeface="Aptos"/>
                <a:ea typeface="Aptos"/>
                <a:cs typeface="Aptos"/>
              </a:rPr>
              <a:t>jagcoool/nagp-employee-leave-tracker-*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739E89-ADCF-4C3E-A72E-1B170DCADBF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9810750" cy="9525"/>
          </a:xfrm>
          <a:prstGeom prst="rect">
            <a:avLst/>
          </a:prstGeom>
          <a:solidFill>
            <a:srgbClr val="D7DD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564491-7E38-4CFD-88D1-DFCDC2E94D8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0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08087"/>
                </a:solidFill>
                <a:latin typeface="Aptos"/>
                <a:ea typeface="Aptos"/>
                <a:cs typeface="Aptos"/>
              </a:rPr>
              <a:t>Employee Leave Tracker | Microservices Assignment 2026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648609-D463-4747-9648-E475EB0A8C0D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457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215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887</Words>
  <Application>Microsoft Office PowerPoint</Application>
  <DocSecurity>0</DocSecurity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Jagdeep singh</cp:lastModifiedBy>
  <cp:revision>11</cp:revision>
  <dcterms:created xsi:type="dcterms:W3CDTF">2026-06-02T15:56:57Z</dcterms:created>
  <dcterms:modified xsi:type="dcterms:W3CDTF">2026-06-03T08:03:32Z</dcterms:modified>
</cp:coreProperties>
</file>